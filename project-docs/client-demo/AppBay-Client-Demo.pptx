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9810"/>
            <a:ext cx="4023360" cy="13748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00600" y="1600200"/>
            <a:ext cx="0" cy="3063240"/>
          </a:xfrm>
          <a:prstGeom prst="line">
            <a:avLst/>
          </a:prstGeom>
          <a:noFill/>
          <a:ln w="15875">
            <a:solidFill>
              <a:srgbClr val="383E4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257800" y="1645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AD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APPBAY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257800" y="21031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Data Platform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257800" y="30175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AD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set of numbers from every system the bank runs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2578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· Verify · Measure · Act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2578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demo ·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017520" cy="274320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END TO END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Steps From Raw Data to an Approved Number.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follows the same path. The first six steps run automatically in Databricks, in about ten minutes for the current data. </a:t>
            </a:r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involve people</a:t>
            </a:r>
            <a:pPr indent="0" marL="0">
              <a:buNone/>
            </a:pPr>
            <a:r>
              <a:rPr lang="en-US" sz="125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reviewing what the checks found, and approving the fixes.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from every source: file drops today, databases and application APIs as connectors are added. Each record is tagged with its source, country and run.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1752562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9722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9450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99450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999450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999450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amounts, currency codes and field names are put into one standard format, whatever system they came from.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185084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2244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1972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31972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31972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clean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431972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25 checks: missing values, invalid codes, impossible amounts, broken links. Failing records are held back with the reason.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rot="5400000">
            <a:off x="4617606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766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494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494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64494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864494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screened by 9 rules: large amounts, structuring, unusual activity, duplicates and more.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5400000">
            <a:off x="6050128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7288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7016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97016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297016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297016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portfolio, branch, country and scenario figures are calculated from the verified data only.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5400000">
            <a:off x="7482649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19809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9537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29537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29537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729537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source sent is compared with what was kept, and the Bank's data with its core banking system. Every gap is recorded.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 rot="5400000">
            <a:off x="8915171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331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2059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62059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62059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162059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exception becomes a task for the right team. Large decisions need a second approver, and the CFO signs off.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 rot="5400000">
            <a:off x="10347693" y="2770632"/>
            <a:ext cx="91440" cy="109728"/>
          </a:xfrm>
          <a:prstGeom prst="triangl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84853" y="1682496"/>
            <a:ext cx="1249642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94581" y="1792224"/>
            <a:ext cx="329184" cy="21945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94581" y="1792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94581" y="2084832"/>
            <a:ext cx="103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refresh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10594581" y="2523744"/>
            <a:ext cx="10301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corrections are saved immediately and applied to the data on the next run. The dashboards update.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078224"/>
            <a:ext cx="2682164" cy="493776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4123944"/>
            <a:ext cx="2499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8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source sent, in one standard format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322244" y="4078224"/>
            <a:ext cx="1249642" cy="493776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13684" y="4123944"/>
            <a:ext cx="1066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</a:t>
            </a:r>
            <a:endParaRPr lang="en-US" sz="8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records + rejection log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54766" y="4078224"/>
            <a:ext cx="4114686" cy="493776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846206" y="4123944"/>
            <a:ext cx="3931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8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KPIs, summaries and reconciliation results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052331" y="4078224"/>
            <a:ext cx="2682164" cy="493776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143771" y="4123944"/>
            <a:ext cx="2499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</a:t>
            </a:r>
            <a:endParaRPr lang="en-US" sz="850" dirty="0"/>
          </a:p>
          <a:p>
            <a:pPr indent="0" marL="0">
              <a:buNone/>
            </a:pPr>
            <a:r>
              <a:rPr lang="en-US" sz="9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loaded to the app: tasks, approvals, audit trail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4718304"/>
            <a:ext cx="2682164" cy="8046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" y="4910328"/>
            <a:ext cx="420624" cy="420624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21792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1170432" y="4809744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D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1170432" y="5084064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centre, your control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322244" y="4718304"/>
            <a:ext cx="2682164" cy="8046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86836" y="4910328"/>
            <a:ext cx="420624" cy="420624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486836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4035476" y="4809744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D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035476" y="5084064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sources today, 1,000 tomorrow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187288" y="4718304"/>
            <a:ext cx="2682164" cy="8046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51880" y="4910328"/>
            <a:ext cx="420624" cy="420624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35188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6900520" y="4809744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D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6900520" y="5084064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Azure UAE North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052331" y="4718304"/>
            <a:ext cx="2682164" cy="8046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16923" y="4910328"/>
            <a:ext cx="420624" cy="420624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216923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9765563" y="4809744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D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9765563" y="5084064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dual approval, audit trail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57200" y="5724144"/>
            <a:ext cx="11277295" cy="786384"/>
          </a:xfrm>
          <a:prstGeom prst="rect">
            <a:avLst/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0080" y="5605272"/>
            <a:ext cx="2057400" cy="237744"/>
          </a:xfrm>
          <a:prstGeom prst="rect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40080" y="560527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BUILT THIS WAY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879592"/>
            <a:ext cx="3393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disappears silently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8368" y="6108192"/>
            <a:ext cx="3393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record is never deleted. It is logged with the check it failed, counted in the reconciliation and turned into a task.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216298" y="5861304"/>
            <a:ext cx="0" cy="512064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417466" y="5879592"/>
            <a:ext cx="3393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stay fast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4417466" y="6108192"/>
            <a:ext cx="3393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work happens in the nightly run. The screens read small, pre-calculated summaries, so they open in seconds.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975397" y="5861304"/>
            <a:ext cx="0" cy="512064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176565" y="5879592"/>
            <a:ext cx="3393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arrival or on demand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8176565" y="6108192"/>
            <a:ext cx="3393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starts when a new file lands, on a daily schedule, or when the CFO presses Refresh Now after approving corrections.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source, one way 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ingestion: core banking, ERP, CRM, databases and spreadsheets.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(CSV, XLSX, JSON, XML, PDF) or connect a live source.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automatic pulls, so no one has to remember.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tracked for every load: records received, success or failure.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on one page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KPI tiles, each compared with the previous day and coloured by its limit.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resting on placeholder inputs are clearly marked “Assumption”.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plotted against regulatory minimums and internal limits.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now re-runs the pipeline on demand.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Credit Risk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loan book is exposed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grouped by loan-to-value; red marks exposure above 100%, not covered by collateral.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 or filter to list the loans behind it, largest first.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loan shows customer, branch, segment, currency, days late, IFRS 9 stage and collateral.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stay in each loan's own currency.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Segment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branches and channels perform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usage: the share of transactions by mobile, online, ATM and branch.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quadrant: each branch by revenue vs cost-to-income, sized by deposits.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closure candidates stand out at a glance.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can also be shown as a table.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Modelling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before it happens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base, adverse or severe presets, or set your own shocks.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currency devaluation, interest-rate change and bad-loan increase.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liquidity, surplus and profit recalculate instantly as you move a slider.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shown before vs after, against the regulatory minimum.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grouped by cause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difference between the Bank's data and its core banking system, grouped by cause.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breaks (missing records, key fields, 10,000+) always stand alone, with a one-day deadline.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bulk groups, such as 12 accounts at −9,000, need a second approval.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break shows the core value vs ours, how long it has been open, and a CSV export.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for a whole group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has an owner, a severity and a due date, in one review queue.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group to see each break side by side: core system vs our data.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individual breaks out, then accept, correct or dismiss the rest.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is required, and large bulk decisions go to the CFO for approval.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Oversight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record of every decision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view: on-time submissions, overdue work, turnaround and open breaches.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comment, correction and decision is recorded with who, when and what.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audit trail can be edited or deleted.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record to answer audit and regulator questions in seconds.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 the regulator's format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built from the final, approved numbers, e.g. Capital Adequacy Q3 2026 with its due date.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figure to see its formula, source tables and record count.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 or Excel in one click.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inputs are labelled until the Bank's own data is connected.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292" y="521208"/>
            <a:ext cx="7138416" cy="5815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" y="548640"/>
            <a:ext cx="7083552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024128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Assistant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09344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plain language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128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01584" y="24505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40496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ingested data and reports in natural language.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31272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33649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01584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40496" y="32004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 from the same verified tables as the reports.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40416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01584" y="42793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41148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from an answer to the source records behind it.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55280" y="4956048"/>
            <a:ext cx="3779215" cy="786384"/>
          </a:xfrm>
          <a:prstGeom prst="roundRect">
            <a:avLst>
              <a:gd name="adj" fmla="val 9302"/>
            </a:avLst>
          </a:prstGeom>
          <a:solidFill>
            <a:srgbClr val="F3F4F6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1584" y="5193792"/>
            <a:ext cx="310896" cy="310896"/>
          </a:xfrm>
          <a:prstGeom prst="ellipse">
            <a:avLst/>
          </a:prstGeom>
          <a:solidFill>
            <a:srgbClr val="FAD31A"/>
          </a:solidFill>
          <a:ln w="12700">
            <a:solidFill>
              <a:srgbClr val="FAD3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50292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its sources, for auditability.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37252"/>
            <a:ext cx="1737360" cy="5464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AppBay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Data Platform – Client Demo</dc:title>
  <dc:subject>PptxGenJS Presentation</dc:subject>
  <dc:creator>AppBay</dc:creator>
  <cp:lastModifiedBy>AppBay</cp:lastModifiedBy>
  <cp:revision>1</cp:revision>
  <dcterms:created xsi:type="dcterms:W3CDTF">2026-09-25T12:40:01Z</dcterms:created>
  <dcterms:modified xsi:type="dcterms:W3CDTF">2026-09-25T12:40:01Z</dcterms:modified>
</cp:coreProperties>
</file>